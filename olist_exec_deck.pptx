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80"/>
    <a:srgbClr val="336600"/>
    <a:srgbClr val="1B2A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-558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2011680"/>
            <a:ext cx="137160" cy="29260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92024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FFFFFF"/>
                </a:solidFill>
                <a:latin typeface="Georgia"/>
              </a:defRPr>
            </a:pPr>
            <a:r>
              <a:t>Olist Delivery Performance Pipeline &amp; Analytics</a:t>
            </a:r>
          </a:p>
          <a:p>
            <a:pPr>
              <a:spcAft>
                <a:spcPts val="2400"/>
              </a:spcAft>
              <a:defRPr sz="1800">
                <a:solidFill>
                  <a:srgbClr val="CBD5E0"/>
                </a:solidFill>
                <a:latin typeface="Arial"/>
              </a:defRPr>
            </a:pPr>
            <a:r>
              <a:t>Module 2 Assignment Project V2 — Executive Presentation Deck (Group 7)</a:t>
            </a:r>
          </a:p>
          <a:p>
            <a:pPr>
              <a:defRPr sz="1300">
                <a:solidFill>
                  <a:srgbClr val="008080"/>
                </a:solidFill>
                <a:latin typeface="Arial"/>
              </a:defRPr>
            </a:pPr>
            <a:r>
              <a:t>Prepared for: Mixed Executive Audience (CEO, CFO, COO, CTO)  |  Format: 10 Min Presentation + 5 Min Q&amp;A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8080"/>
                </a:solidFill>
                <a:latin typeface="Arial"/>
              </a:defRPr>
            </a:pPr>
            <a:r>
              <a:t>0:00 - 1:00 |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2A47"/>
                </a:solidFill>
                <a:latin typeface="Georgia"/>
              </a:defRPr>
            </a:pPr>
            <a:r>
              <a:t>Late Deliveries Expose Revenue and Depress Customer Satisfaction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754880"/>
          </a:xfrm>
          <a:prstGeom prst="round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1200" b="1">
                <a:solidFill>
                  <a:srgbClr val="C0392B"/>
                </a:solidFill>
                <a:latin typeface="Arial"/>
              </a:defRPr>
            </a:pPr>
            <a:r>
              <a:rPr dirty="0"/>
              <a:t>THE PROBLEM</a:t>
            </a:r>
          </a:p>
          <a:p>
            <a:pPr>
              <a:spcAft>
                <a:spcPts val="1200"/>
              </a:spcAft>
              <a:defRPr sz="1800" b="1">
                <a:solidFill>
                  <a:srgbClr val="1B2A47"/>
                </a:solidFill>
                <a:latin typeface="Georgia"/>
              </a:defRPr>
            </a:pPr>
            <a:r>
              <a:rPr dirty="0"/>
              <a:t>Delivery Latency &amp; Margin Friction</a:t>
            </a:r>
          </a:p>
          <a:p>
            <a:pPr>
              <a:spcAft>
                <a:spcPts val="800"/>
              </a:spcAft>
              <a:defRPr sz="1200">
                <a:solidFill>
                  <a:srgbClr val="2C3E50"/>
                </a:solidFill>
                <a:latin typeface="Arial"/>
              </a:defRPr>
            </a:pPr>
            <a:r>
              <a:rPr dirty="0"/>
              <a:t>• Delivery lateness is concentrated in specific Brazilian state routes and purchase peak months.</a:t>
            </a:r>
          </a:p>
          <a:p>
            <a:pPr>
              <a:spcAft>
                <a:spcPts val="800"/>
              </a:spcAft>
              <a:defRPr sz="1200">
                <a:solidFill>
                  <a:srgbClr val="2C3E50"/>
                </a:solidFill>
                <a:latin typeface="Arial"/>
              </a:defRPr>
            </a:pPr>
            <a:r>
              <a:rPr dirty="0"/>
              <a:t>• Late deliveries directly depress review scores, damaging customer LTV.</a:t>
            </a:r>
          </a:p>
          <a:p>
            <a:pPr>
              <a:spcAft>
                <a:spcPts val="800"/>
              </a:spcAft>
              <a:defRPr sz="1200">
                <a:solidFill>
                  <a:srgbClr val="2C3E50"/>
                </a:solidFill>
                <a:latin typeface="Arial"/>
              </a:defRPr>
            </a:pPr>
            <a:r>
              <a:rPr dirty="0"/>
              <a:t>• Promises are systematically inaccurate: wrong delivery estimates destroy trust even when transit times are acceptable</a:t>
            </a:r>
            <a:r>
              <a:rPr dirty="0" smtClean="0"/>
              <a:t>.</a:t>
            </a:r>
            <a:endParaRPr lang="en-US" dirty="0" smtClean="0"/>
          </a:p>
          <a:p>
            <a:pPr>
              <a:spcAft>
                <a:spcPts val="800"/>
              </a:spcAft>
              <a:defRPr sz="1200">
                <a:solidFill>
                  <a:srgbClr val="2C3E50"/>
                </a:solidFill>
                <a:latin typeface="Arial"/>
              </a:defRPr>
            </a:pPr>
            <a:endParaRPr lang="en-US" dirty="0"/>
          </a:p>
          <a:p>
            <a:pPr>
              <a:spcAft>
                <a:spcPts val="800"/>
              </a:spcAft>
              <a:defRPr sz="1200">
                <a:solidFill>
                  <a:srgbClr val="2C3E50"/>
                </a:solidFill>
                <a:latin typeface="Arial"/>
              </a:defRPr>
            </a:pP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425696" y="1463040"/>
            <a:ext cx="3328416" cy="4754880"/>
          </a:xfrm>
          <a:prstGeom prst="round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1200" b="1">
                <a:solidFill>
                  <a:srgbClr val="008080"/>
                </a:solidFill>
                <a:latin typeface="Arial"/>
              </a:defRPr>
            </a:pPr>
            <a:r>
              <a:rPr dirty="0"/>
              <a:t>THE ARCHITECTURE</a:t>
            </a:r>
          </a:p>
          <a:p>
            <a:pPr>
              <a:spcAft>
                <a:spcPts val="1200"/>
              </a:spcAft>
              <a:defRPr sz="1800" b="1">
                <a:solidFill>
                  <a:srgbClr val="1B2A47"/>
                </a:solidFill>
                <a:latin typeface="Georgia"/>
              </a:defRPr>
            </a:pPr>
            <a:r>
              <a:rPr dirty="0">
                <a:solidFill>
                  <a:srgbClr val="008080"/>
                </a:solidFill>
              </a:rPr>
              <a:t>Automated Production Pipeline</a:t>
            </a:r>
          </a:p>
          <a:p>
            <a:pPr>
              <a:spcAft>
                <a:spcPts val="800"/>
              </a:spcAft>
              <a:defRPr sz="1200">
                <a:solidFill>
                  <a:srgbClr val="2C3E50"/>
                </a:solidFill>
                <a:latin typeface="Arial"/>
              </a:defRPr>
            </a:pPr>
            <a:r>
              <a:rPr dirty="0">
                <a:solidFill>
                  <a:srgbClr val="008080"/>
                </a:solidFill>
              </a:rPr>
              <a:t>• Python Loader &amp; Manifest: Calculates SHA256, byte size, and exact record counts before loading.</a:t>
            </a:r>
          </a:p>
          <a:p>
            <a:pPr>
              <a:spcAft>
                <a:spcPts val="800"/>
              </a:spcAft>
              <a:defRPr sz="1200">
                <a:solidFill>
                  <a:srgbClr val="2C3E50"/>
                </a:solidFill>
                <a:latin typeface="Arial"/>
              </a:defRPr>
            </a:pPr>
            <a:r>
              <a:rPr dirty="0">
                <a:solidFill>
                  <a:srgbClr val="008080"/>
                </a:solidFill>
              </a:rPr>
              <a:t>• GCS Landing Zone: Immutable raw store (gs://&lt;PROJECT_ID&gt;-olist-raw/olist/raw/v1/).</a:t>
            </a:r>
          </a:p>
          <a:p>
            <a:pPr>
              <a:spcAft>
                <a:spcPts val="800"/>
              </a:spcAft>
              <a:defRPr sz="1200">
                <a:solidFill>
                  <a:srgbClr val="2C3E50"/>
                </a:solidFill>
                <a:latin typeface="Arial"/>
              </a:defRPr>
            </a:pPr>
            <a:r>
              <a:rPr dirty="0">
                <a:solidFill>
                  <a:srgbClr val="008080"/>
                </a:solidFill>
              </a:rPr>
              <a:t>• </a:t>
            </a:r>
            <a:r>
              <a:rPr dirty="0" err="1">
                <a:solidFill>
                  <a:srgbClr val="008080"/>
                </a:solidFill>
              </a:rPr>
              <a:t>dbt</a:t>
            </a:r>
            <a:r>
              <a:rPr dirty="0">
                <a:solidFill>
                  <a:srgbClr val="008080"/>
                </a:solidFill>
              </a:rPr>
              <a:t> </a:t>
            </a:r>
            <a:r>
              <a:rPr dirty="0" smtClean="0">
                <a:solidFill>
                  <a:srgbClr val="008080"/>
                </a:solidFill>
              </a:rPr>
              <a:t>ELT</a:t>
            </a:r>
            <a:r>
              <a:rPr dirty="0">
                <a:solidFill>
                  <a:srgbClr val="008080"/>
                </a:solidFill>
              </a:rPr>
              <a:t>: Transforms raw tables into a </a:t>
            </a:r>
            <a:r>
              <a:rPr lang="en-US" dirty="0" smtClean="0">
                <a:solidFill>
                  <a:srgbClr val="008080"/>
                </a:solidFill>
              </a:rPr>
              <a:t>8-Staging, 4-Intermediate, </a:t>
            </a:r>
            <a:r>
              <a:rPr dirty="0" smtClean="0">
                <a:solidFill>
                  <a:srgbClr val="008080"/>
                </a:solidFill>
              </a:rPr>
              <a:t>3-Fact</a:t>
            </a:r>
            <a:r>
              <a:rPr dirty="0">
                <a:solidFill>
                  <a:srgbClr val="008080"/>
                </a:solidFill>
              </a:rPr>
              <a:t>, 4-Dimension Star Schema.</a:t>
            </a:r>
          </a:p>
          <a:p>
            <a:pPr>
              <a:spcAft>
                <a:spcPts val="800"/>
              </a:spcAft>
              <a:defRPr sz="1200">
                <a:solidFill>
                  <a:srgbClr val="2C3E50"/>
                </a:solidFill>
                <a:latin typeface="Arial"/>
              </a:defRPr>
            </a:pPr>
            <a:r>
              <a:rPr dirty="0">
                <a:solidFill>
                  <a:srgbClr val="008080"/>
                </a:solidFill>
              </a:rPr>
              <a:t>• Single-Command CLI: GNU </a:t>
            </a:r>
            <a:r>
              <a:rPr dirty="0" err="1">
                <a:solidFill>
                  <a:srgbClr val="008080"/>
                </a:solidFill>
              </a:rPr>
              <a:t>Makefile</a:t>
            </a:r>
            <a:r>
              <a:rPr dirty="0">
                <a:solidFill>
                  <a:srgbClr val="008080"/>
                </a:solidFill>
              </a:rPr>
              <a:t> ('make all') orchestrates gate, ingest, build, and tests.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463040"/>
            <a:ext cx="3328416" cy="4754880"/>
          </a:xfrm>
          <a:prstGeom prst="roundRect">
            <a:avLst/>
          </a:prstGeom>
          <a:solidFill>
            <a:srgbClr val="1B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1200" b="1">
                <a:solidFill>
                  <a:srgbClr val="008080"/>
                </a:solidFill>
                <a:latin typeface="Arial"/>
              </a:defRPr>
            </a:pPr>
            <a:r>
              <a:rPr dirty="0">
                <a:solidFill>
                  <a:schemeClr val="bg1"/>
                </a:solidFill>
              </a:rPr>
              <a:t>PRIMARY BUSINESS CASE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  <a:latin typeface="Georgia"/>
              </a:defRPr>
            </a:pPr>
            <a:r>
              <a:rPr dirty="0"/>
              <a:t>Case 3: Delivery Performance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rPr dirty="0"/>
              <a:t>• WHERE are deliveries late? Identified route pairs (customer state &amp; seller state).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rPr dirty="0"/>
              <a:t>• WHEN are deliveries late? Stage decomposition (approval, seller handover, carrier transit).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rPr dirty="0"/>
              <a:t>• WHAT does lateness cost? Review score drop &amp; exposed revenue.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rPr dirty="0"/>
              <a:t>• HOW BAD is the estimate? Promise error vs actual transit time analyzed separately.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8080"/>
                </a:solidFill>
                <a:latin typeface="Arial"/>
              </a:defRPr>
            </a:pPr>
            <a:r>
              <a:rPr dirty="0"/>
              <a:t>1:00 - 2:20 | DATA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2A47"/>
                </a:solidFill>
                <a:latin typeface="Georgia"/>
              </a:defRPr>
            </a:pPr>
            <a:r>
              <a:t>Reproducible, Layered Ingestion with Pre-Cloud Circuit Breaker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13194"/>
            <a:ext cx="246888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C0392B"/>
                </a:solidFill>
                <a:latin typeface="Arial"/>
              </a:defRPr>
            </a:pPr>
            <a:r>
              <a:rPr dirty="0"/>
              <a:t>1. SOURCE &amp; </a:t>
            </a:r>
            <a:r>
              <a:rPr lang="en-US" dirty="0" smtClean="0"/>
              <a:t>QUALITY </a:t>
            </a:r>
            <a:r>
              <a:rPr dirty="0" smtClean="0"/>
              <a:t>GATE </a:t>
            </a:r>
            <a:r>
              <a:rPr dirty="0"/>
              <a:t>1</a:t>
            </a:r>
          </a:p>
          <a:p>
            <a:pPr>
              <a:spcAft>
                <a:spcPts val="1000"/>
              </a:spcAft>
              <a:defRPr sz="1500" b="1">
                <a:solidFill>
                  <a:srgbClr val="1B2A47"/>
                </a:solidFill>
                <a:latin typeface="Georgia"/>
              </a:defRPr>
            </a:pPr>
            <a:r>
              <a:rPr dirty="0"/>
              <a:t>Raw Ingestion &amp; Checksum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Arial"/>
              </a:defRPr>
            </a:pPr>
            <a:r>
              <a:rPr dirty="0"/>
              <a:t>• Source: 9 </a:t>
            </a:r>
            <a:r>
              <a:rPr dirty="0" err="1"/>
              <a:t>Kaggle</a:t>
            </a:r>
            <a:r>
              <a:rPr dirty="0"/>
              <a:t> CSVs (~120MB, 1.55M rows).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Arial"/>
              </a:defRPr>
            </a:pPr>
            <a:r>
              <a:rPr dirty="0"/>
              <a:t>• Manifest Generator: Calculates SHA256, byte size, and true CSV record counts.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Arial"/>
              </a:defRPr>
            </a:pPr>
            <a:r>
              <a:rPr dirty="0"/>
              <a:t>• Quality Gate 1: Great Expectations validates CSV structure &amp; keys before loading.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Arial"/>
              </a:defRPr>
            </a:pPr>
            <a:r>
              <a:rPr dirty="0"/>
              <a:t>• Circuit Breaker: On failure, zero data reaches cloud landing</a:t>
            </a:r>
            <a:r>
              <a:rPr dirty="0" smtClean="0"/>
              <a:t>.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3429000" y="1713194"/>
            <a:ext cx="246888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B2A47"/>
                </a:solidFill>
                <a:latin typeface="Arial"/>
              </a:defRPr>
            </a:pPr>
            <a:r>
              <a:rPr dirty="0">
                <a:solidFill>
                  <a:schemeClr val="tx2"/>
                </a:solidFill>
              </a:rPr>
              <a:t>2. LANDING &amp; </a:t>
            </a:r>
            <a:r>
              <a:rPr dirty="0" smtClean="0">
                <a:solidFill>
                  <a:schemeClr val="tx2"/>
                </a:solidFill>
              </a:rPr>
              <a:t>RAW</a:t>
            </a:r>
            <a:endParaRPr lang="en-US" dirty="0" smtClean="0">
              <a:solidFill>
                <a:schemeClr val="tx2"/>
              </a:solidFill>
            </a:endParaRPr>
          </a:p>
          <a:p>
            <a:pPr algn="ctr">
              <a:spcAft>
                <a:spcPts val="400"/>
              </a:spcAft>
              <a:defRPr sz="1100" b="1">
                <a:solidFill>
                  <a:srgbClr val="1B2A47"/>
                </a:solidFill>
                <a:latin typeface="Arial"/>
              </a:defRPr>
            </a:pPr>
            <a:endParaRPr dirty="0">
              <a:solidFill>
                <a:schemeClr val="tx2"/>
              </a:solidFill>
            </a:endParaRPr>
          </a:p>
          <a:p>
            <a:pPr>
              <a:spcAft>
                <a:spcPts val="1000"/>
              </a:spcAft>
              <a:defRPr sz="1500" b="1">
                <a:solidFill>
                  <a:srgbClr val="1B2A47"/>
                </a:solidFill>
                <a:latin typeface="Georgia"/>
              </a:defRPr>
            </a:pPr>
            <a:r>
              <a:rPr dirty="0">
                <a:solidFill>
                  <a:schemeClr val="tx2"/>
                </a:solidFill>
              </a:rPr>
              <a:t>GCS &amp; </a:t>
            </a:r>
            <a:r>
              <a:rPr dirty="0" err="1">
                <a:solidFill>
                  <a:schemeClr val="tx2"/>
                </a:solidFill>
              </a:rPr>
              <a:t>BigQuery</a:t>
            </a:r>
            <a:r>
              <a:rPr dirty="0">
                <a:solidFill>
                  <a:schemeClr val="tx2"/>
                </a:solidFill>
              </a:rPr>
              <a:t> Raw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Arial"/>
              </a:defRPr>
            </a:pPr>
            <a:r>
              <a:rPr dirty="0">
                <a:solidFill>
                  <a:schemeClr val="tx2"/>
                </a:solidFill>
              </a:rPr>
              <a:t>• Immutable GCS Landing: gs://&lt;PROJECT&gt;-olist-raw/olist/raw/v1/.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Arial"/>
              </a:defRPr>
            </a:pPr>
            <a:r>
              <a:rPr dirty="0">
                <a:solidFill>
                  <a:schemeClr val="tx2"/>
                </a:solidFill>
              </a:rPr>
              <a:t>• </a:t>
            </a:r>
            <a:r>
              <a:rPr dirty="0" err="1">
                <a:solidFill>
                  <a:schemeClr val="tx2"/>
                </a:solidFill>
              </a:rPr>
              <a:t>BigQuery</a:t>
            </a:r>
            <a:r>
              <a:rPr dirty="0">
                <a:solidFill>
                  <a:schemeClr val="tx2"/>
                </a:solidFill>
              </a:rPr>
              <a:t> </a:t>
            </a:r>
            <a:r>
              <a:rPr dirty="0" err="1">
                <a:solidFill>
                  <a:schemeClr val="tx2"/>
                </a:solidFill>
              </a:rPr>
              <a:t>olist_raw</a:t>
            </a:r>
            <a:r>
              <a:rPr dirty="0">
                <a:solidFill>
                  <a:schemeClr val="tx2"/>
                </a:solidFill>
              </a:rPr>
              <a:t>: Explicit JSON schemas (</a:t>
            </a:r>
            <a:r>
              <a:rPr dirty="0" err="1">
                <a:solidFill>
                  <a:schemeClr val="tx2"/>
                </a:solidFill>
              </a:rPr>
              <a:t>autodetect</a:t>
            </a:r>
            <a:r>
              <a:rPr dirty="0">
                <a:solidFill>
                  <a:schemeClr val="tx2"/>
                </a:solidFill>
              </a:rPr>
              <a:t> disabled).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Arial"/>
              </a:defRPr>
            </a:pPr>
            <a:r>
              <a:rPr dirty="0">
                <a:solidFill>
                  <a:schemeClr val="tx2"/>
                </a:solidFill>
              </a:rPr>
              <a:t>• Audit Metadata: _</a:t>
            </a:r>
            <a:r>
              <a:rPr dirty="0" err="1">
                <a:solidFill>
                  <a:schemeClr val="tx2"/>
                </a:solidFill>
              </a:rPr>
              <a:t>batch_id</a:t>
            </a:r>
            <a:r>
              <a:rPr dirty="0">
                <a:solidFill>
                  <a:schemeClr val="tx2"/>
                </a:solidFill>
              </a:rPr>
              <a:t>, _</a:t>
            </a:r>
            <a:r>
              <a:rPr dirty="0" err="1">
                <a:solidFill>
                  <a:schemeClr val="tx2"/>
                </a:solidFill>
              </a:rPr>
              <a:t>loaded_at</a:t>
            </a:r>
            <a:r>
              <a:rPr dirty="0">
                <a:solidFill>
                  <a:schemeClr val="tx2"/>
                </a:solidFill>
              </a:rPr>
              <a:t>, _</a:t>
            </a:r>
            <a:r>
              <a:rPr dirty="0" err="1">
                <a:solidFill>
                  <a:schemeClr val="tx2"/>
                </a:solidFill>
              </a:rPr>
              <a:t>source_uri</a:t>
            </a:r>
            <a:r>
              <a:rPr dirty="0">
                <a:solidFill>
                  <a:schemeClr val="tx2"/>
                </a:solidFill>
              </a:rPr>
              <a:t>, _source_sha256.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Arial"/>
              </a:defRPr>
            </a:pPr>
            <a:r>
              <a:rPr dirty="0">
                <a:solidFill>
                  <a:schemeClr val="tx2"/>
                </a:solidFill>
              </a:rPr>
              <a:t>• </a:t>
            </a:r>
            <a:r>
              <a:rPr dirty="0" err="1">
                <a:solidFill>
                  <a:schemeClr val="tx2"/>
                </a:solidFill>
              </a:rPr>
              <a:t>Idempotency</a:t>
            </a:r>
            <a:r>
              <a:rPr dirty="0">
                <a:solidFill>
                  <a:schemeClr val="tx2"/>
                </a:solidFill>
              </a:rPr>
              <a:t>: WRITE_TRUNCATE per batch ensures identical row counts on re-runs</a:t>
            </a:r>
            <a:r>
              <a:rPr dirty="0" smtClean="0">
                <a:solidFill>
                  <a:schemeClr val="tx2"/>
                </a:solidFill>
              </a:rPr>
              <a:t>.</a:t>
            </a:r>
            <a:endParaRPr lang="en-US" dirty="0" smtClean="0">
              <a:solidFill>
                <a:schemeClr val="tx2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126480" y="1713194"/>
            <a:ext cx="246888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008080"/>
                </a:solidFill>
                <a:latin typeface="Arial"/>
              </a:defRPr>
            </a:pPr>
            <a:r>
              <a:rPr dirty="0"/>
              <a:t>3. </a:t>
            </a:r>
            <a:r>
              <a:rPr dirty="0" smtClean="0"/>
              <a:t>T</a:t>
            </a:r>
            <a:r>
              <a:rPr lang="en-US" dirty="0" smtClean="0"/>
              <a:t>RANSFORM &amp; QUALITY GATE 2</a:t>
            </a:r>
            <a:endParaRPr dirty="0"/>
          </a:p>
          <a:p>
            <a:pPr>
              <a:spcAft>
                <a:spcPts val="1000"/>
              </a:spcAft>
              <a:defRPr sz="1500" b="1">
                <a:solidFill>
                  <a:srgbClr val="1B2A47"/>
                </a:solidFill>
                <a:latin typeface="Georgia"/>
              </a:defRPr>
            </a:pPr>
            <a:r>
              <a:rPr dirty="0" err="1">
                <a:solidFill>
                  <a:srgbClr val="336600"/>
                </a:solidFill>
              </a:rPr>
              <a:t>dbt</a:t>
            </a:r>
            <a:r>
              <a:rPr dirty="0">
                <a:solidFill>
                  <a:srgbClr val="336600"/>
                </a:solidFill>
              </a:rPr>
              <a:t> Core Transformations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Arial"/>
              </a:defRPr>
            </a:pPr>
            <a:r>
              <a:rPr dirty="0">
                <a:solidFill>
                  <a:srgbClr val="336600"/>
                </a:solidFill>
              </a:rPr>
              <a:t>• Staging (stg_*): Rename, safe cast, </a:t>
            </a:r>
            <a:r>
              <a:rPr dirty="0" err="1">
                <a:solidFill>
                  <a:srgbClr val="336600"/>
                </a:solidFill>
              </a:rPr>
              <a:t>deduplicate</a:t>
            </a:r>
            <a:r>
              <a:rPr dirty="0">
                <a:solidFill>
                  <a:srgbClr val="336600"/>
                </a:solidFill>
              </a:rPr>
              <a:t>, translate Portuguese categories.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Arial"/>
              </a:defRPr>
            </a:pPr>
            <a:r>
              <a:rPr dirty="0">
                <a:solidFill>
                  <a:srgbClr val="336600"/>
                </a:solidFill>
              </a:rPr>
              <a:t>• Intermediate (</a:t>
            </a:r>
            <a:r>
              <a:rPr dirty="0" err="1">
                <a:solidFill>
                  <a:srgbClr val="336600"/>
                </a:solidFill>
              </a:rPr>
              <a:t>int</a:t>
            </a:r>
            <a:r>
              <a:rPr dirty="0">
                <a:solidFill>
                  <a:srgbClr val="336600"/>
                </a:solidFill>
              </a:rPr>
              <a:t>_*): Aggregate payments to order grain, </a:t>
            </a:r>
            <a:r>
              <a:rPr dirty="0" err="1">
                <a:solidFill>
                  <a:srgbClr val="336600"/>
                </a:solidFill>
              </a:rPr>
              <a:t>deduplicate</a:t>
            </a:r>
            <a:r>
              <a:rPr dirty="0">
                <a:solidFill>
                  <a:srgbClr val="336600"/>
                </a:solidFill>
              </a:rPr>
              <a:t> reviews.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Arial"/>
              </a:defRPr>
            </a:pPr>
            <a:r>
              <a:rPr dirty="0">
                <a:solidFill>
                  <a:srgbClr val="336600"/>
                </a:solidFill>
              </a:rPr>
              <a:t>• Snapshots: SCD Type 2 tracking on order status milestones.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Arial"/>
              </a:defRPr>
            </a:pPr>
            <a:r>
              <a:rPr dirty="0">
                <a:solidFill>
                  <a:srgbClr val="336600"/>
                </a:solidFill>
              </a:rPr>
              <a:t>• Marts: Partitioned &amp; clustered Star Schema tables</a:t>
            </a:r>
            <a:r>
              <a:rPr dirty="0" smtClean="0">
                <a:solidFill>
                  <a:srgbClr val="336600"/>
                </a:solidFill>
              </a:rPr>
              <a:t>.</a:t>
            </a:r>
            <a:endParaRPr lang="en-US" dirty="0" smtClean="0">
              <a:solidFill>
                <a:srgbClr val="336600"/>
              </a:solidFill>
            </a:endParaRP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Arial"/>
              </a:defRPr>
            </a:pPr>
            <a:r>
              <a:rPr lang="en-US" dirty="0">
                <a:solidFill>
                  <a:srgbClr val="336600"/>
                </a:solidFill>
              </a:rPr>
              <a:t>• </a:t>
            </a:r>
            <a:r>
              <a:rPr lang="en-US" dirty="0" smtClean="0">
                <a:solidFill>
                  <a:srgbClr val="336600"/>
                </a:solidFill>
              </a:rPr>
              <a:t>Quality Gate 2: </a:t>
            </a:r>
            <a:r>
              <a:rPr lang="en-US" dirty="0" err="1" smtClean="0">
                <a:solidFill>
                  <a:srgbClr val="336600"/>
                </a:solidFill>
              </a:rPr>
              <a:t>dbt</a:t>
            </a:r>
            <a:r>
              <a:rPr lang="en-US" dirty="0" smtClean="0">
                <a:solidFill>
                  <a:srgbClr val="336600"/>
                </a:solidFill>
              </a:rPr>
              <a:t> assertion</a:t>
            </a:r>
            <a:endParaRPr dirty="0">
              <a:solidFill>
                <a:srgbClr val="336600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823960" y="1713194"/>
            <a:ext cx="246888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1B2A47"/>
                </a:solidFill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4. </a:t>
            </a:r>
            <a:r>
              <a:rPr dirty="0" smtClean="0">
                <a:solidFill>
                  <a:schemeClr val="tx1"/>
                </a:solidFill>
              </a:rPr>
              <a:t>ORCHESTRATION</a:t>
            </a:r>
            <a:endParaRPr lang="en-US" dirty="0" smtClean="0">
              <a:solidFill>
                <a:schemeClr val="tx1"/>
              </a:solidFill>
            </a:endParaRPr>
          </a:p>
          <a:p>
            <a:pPr algn="ctr">
              <a:spcAft>
                <a:spcPts val="400"/>
              </a:spcAft>
              <a:defRPr sz="1100" b="1">
                <a:solidFill>
                  <a:srgbClr val="1B2A47"/>
                </a:solidFill>
                <a:latin typeface="Arial"/>
              </a:defRPr>
            </a:pPr>
            <a:endParaRPr dirty="0"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  <a:defRPr sz="1500" b="1">
                <a:solidFill>
                  <a:srgbClr val="1B2A47"/>
                </a:solidFill>
                <a:latin typeface="Georgia"/>
              </a:defRPr>
            </a:pPr>
            <a:r>
              <a:rPr dirty="0" err="1">
                <a:solidFill>
                  <a:schemeClr val="tx1"/>
                </a:solidFill>
              </a:rPr>
              <a:t>Makefile</a:t>
            </a:r>
            <a:r>
              <a:rPr dirty="0">
                <a:solidFill>
                  <a:schemeClr val="tx1"/>
                </a:solidFill>
              </a:rPr>
              <a:t> &amp; </a:t>
            </a:r>
            <a:r>
              <a:rPr dirty="0" err="1">
                <a:solidFill>
                  <a:schemeClr val="tx1"/>
                </a:solidFill>
              </a:rPr>
              <a:t>Dagster</a:t>
            </a:r>
            <a:r>
              <a:rPr dirty="0">
                <a:solidFill>
                  <a:schemeClr val="tx1"/>
                </a:solidFill>
              </a:rPr>
              <a:t> DAG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• Single-Command: 'make all' runs gate -&gt; ingest -&gt; build -&gt; unit.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• </a:t>
            </a:r>
            <a:r>
              <a:rPr dirty="0" err="1">
                <a:solidFill>
                  <a:schemeClr val="tx1"/>
                </a:solidFill>
              </a:rPr>
              <a:t>Dagster</a:t>
            </a:r>
            <a:r>
              <a:rPr dirty="0">
                <a:solidFill>
                  <a:schemeClr val="tx1"/>
                </a:solidFill>
              </a:rPr>
              <a:t> Asset DAG: Daily automated schedule with dependency-aware retries.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• Evidence Harvesting: 'make evidence' dumps JSON manifests to docs/evidence/.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Arial"/>
              </a:defRPr>
            </a:pPr>
            <a:r>
              <a:rPr dirty="0">
                <a:solidFill>
                  <a:schemeClr val="tx1"/>
                </a:solidFill>
              </a:rPr>
              <a:t>• CI/CD: GitHub Actions validates pull requests with credential-free </a:t>
            </a:r>
            <a:r>
              <a:rPr dirty="0" err="1">
                <a:solidFill>
                  <a:schemeClr val="tx1"/>
                </a:solidFill>
              </a:rPr>
              <a:t>linting</a:t>
            </a:r>
            <a:r>
              <a:rPr dirty="0" smtClean="0">
                <a:solidFill>
                  <a:schemeClr val="tx1"/>
                </a:solidFill>
              </a:rPr>
              <a:t>.</a:t>
            </a:r>
            <a:endParaRPr lang="en-US" dirty="0" smtClean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Arial"/>
              </a:defRPr>
            </a:pP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24792" y="1210746"/>
            <a:ext cx="93589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 smtClean="0">
                <a:ln w="12700">
                  <a:noFill/>
                  <a:prstDash val="solid"/>
                </a:ln>
                <a:solidFill>
                  <a:srgbClr val="00808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ELT chart</a:t>
            </a:r>
            <a:endParaRPr lang="en-US" sz="1600" cap="none" spc="0" dirty="0">
              <a:ln w="12700">
                <a:noFill/>
                <a:prstDash val="solid"/>
              </a:ln>
              <a:solidFill>
                <a:srgbClr val="00808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9" name="Flowchart: Extract 8"/>
          <p:cNvSpPr/>
          <p:nvPr/>
        </p:nvSpPr>
        <p:spPr>
          <a:xfrm rot="5400000">
            <a:off x="832450" y="1240940"/>
            <a:ext cx="327804" cy="301924"/>
          </a:xfrm>
          <a:prstGeom prst="flowChartExtract">
            <a:avLst/>
          </a:prstGeom>
          <a:solidFill>
            <a:srgbClr val="008080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718346" y="5900640"/>
            <a:ext cx="137544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 smtClean="0">
                <a:ln w="12700">
                  <a:noFill/>
                  <a:prstDash val="solid"/>
                </a:ln>
                <a:solidFill>
                  <a:srgbClr val="00808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Orchestration </a:t>
            </a:r>
            <a:endParaRPr lang="en-US" sz="1600" cap="none" spc="0" dirty="0">
              <a:ln w="12700">
                <a:noFill/>
                <a:prstDash val="solid"/>
              </a:ln>
              <a:solidFill>
                <a:srgbClr val="00808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1" name="Flowchart: Extract 10"/>
          <p:cNvSpPr/>
          <p:nvPr/>
        </p:nvSpPr>
        <p:spPr>
          <a:xfrm rot="5400000">
            <a:off x="9430123" y="5930834"/>
            <a:ext cx="327804" cy="301924"/>
          </a:xfrm>
          <a:prstGeom prst="flowChartExtract">
            <a:avLst/>
          </a:prstGeom>
          <a:solidFill>
            <a:srgbClr val="008080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8080"/>
                </a:solidFill>
                <a:latin typeface="Arial"/>
              </a:defRPr>
            </a:pPr>
            <a:r>
              <a:t>2:20 - 3:30 | MODEL &amp; DEFINITIONS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2A47"/>
                </a:solidFill>
                <a:latin typeface="Georgia"/>
              </a:defRPr>
            </a:pPr>
            <a:r>
              <a:t>Declared Fact Grain and Fan-Out Controls Protect Financial Integrity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64898"/>
            <a:ext cx="5212080" cy="4553022"/>
          </a:xfrm>
          <a:prstGeom prst="roundRect">
            <a:avLst/>
          </a:prstGeom>
          <a:solidFill>
            <a:srgbClr val="FFFFFF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spcAft>
                <a:spcPts val="1000"/>
              </a:spcAft>
              <a:defRPr sz="1200" b="1">
                <a:solidFill>
                  <a:srgbClr val="008080"/>
                </a:solidFill>
                <a:latin typeface="Arial"/>
              </a:defRPr>
            </a:pPr>
            <a:r>
              <a:rPr dirty="0"/>
              <a:t>STAR SCHEMA GRAIN DECLARATIONS</a:t>
            </a:r>
          </a:p>
          <a:p>
            <a:pPr>
              <a:defRPr sz="1300" b="1">
                <a:solidFill>
                  <a:srgbClr val="1B2A47"/>
                </a:solidFill>
                <a:latin typeface="Georgia"/>
              </a:defRPr>
            </a:pPr>
            <a:r>
              <a:rPr dirty="0" err="1"/>
              <a:t>fct_orders</a:t>
            </a:r>
            <a:r>
              <a:rPr dirty="0"/>
              <a:t> (PRIMARY FACT)</a:t>
            </a:r>
          </a:p>
          <a:p>
            <a:pPr>
              <a:spcAft>
                <a:spcPts val="800"/>
              </a:spcAft>
              <a:defRPr sz="1100">
                <a:solidFill>
                  <a:srgbClr val="2C3E50"/>
                </a:solidFill>
                <a:latin typeface="Arial"/>
              </a:defRPr>
            </a:pPr>
            <a:r>
              <a:rPr dirty="0"/>
              <a:t>1 row = 1 order. Accumulating snapshot holding milestone durations (seller handover, transit, delay vs promise) and review score.</a:t>
            </a:r>
          </a:p>
          <a:p>
            <a:pPr>
              <a:defRPr sz="1300" b="1">
                <a:solidFill>
                  <a:srgbClr val="1B2A47"/>
                </a:solidFill>
                <a:latin typeface="Georgia"/>
              </a:defRPr>
            </a:pPr>
            <a:r>
              <a:rPr dirty="0" err="1"/>
              <a:t>fct_order_items</a:t>
            </a:r>
            <a:r>
              <a:rPr dirty="0"/>
              <a:t> (REVENUE FACT)</a:t>
            </a:r>
          </a:p>
          <a:p>
            <a:pPr>
              <a:spcAft>
                <a:spcPts val="800"/>
              </a:spcAft>
              <a:defRPr sz="1100">
                <a:solidFill>
                  <a:srgbClr val="2C3E50"/>
                </a:solidFill>
                <a:latin typeface="Arial"/>
              </a:defRPr>
            </a:pPr>
            <a:r>
              <a:rPr dirty="0"/>
              <a:t>1 row = 1 item line. Holds </a:t>
            </a:r>
            <a:r>
              <a:rPr dirty="0" err="1"/>
              <a:t>item_price</a:t>
            </a:r>
            <a:r>
              <a:rPr dirty="0"/>
              <a:t>, </a:t>
            </a:r>
            <a:r>
              <a:rPr dirty="0" err="1"/>
              <a:t>freight_value</a:t>
            </a:r>
            <a:r>
              <a:rPr dirty="0"/>
              <a:t>, gross value. Partitioned by purchase date, clustered by customer, product, seller.</a:t>
            </a:r>
          </a:p>
          <a:p>
            <a:pPr>
              <a:defRPr sz="1300" b="1">
                <a:solidFill>
                  <a:srgbClr val="1B2A47"/>
                </a:solidFill>
                <a:latin typeface="Georgia"/>
              </a:defRPr>
            </a:pPr>
            <a:r>
              <a:rPr dirty="0" err="1"/>
              <a:t>fct_payments</a:t>
            </a:r>
            <a:r>
              <a:rPr dirty="0"/>
              <a:t> (PAYMENT FACT)</a:t>
            </a:r>
          </a:p>
          <a:p>
            <a:pPr>
              <a:spcAft>
                <a:spcPts val="800"/>
              </a:spcAft>
              <a:defRPr sz="1100">
                <a:solidFill>
                  <a:srgbClr val="2C3E50"/>
                </a:solidFill>
                <a:latin typeface="Arial"/>
              </a:defRPr>
            </a:pPr>
            <a:r>
              <a:rPr dirty="0"/>
              <a:t>1 row = 1 payment record. Kept separate to prevent multiplying item revenue.</a:t>
            </a:r>
          </a:p>
          <a:p>
            <a:pPr>
              <a:defRPr sz="1300" b="1">
                <a:solidFill>
                  <a:srgbClr val="1B2A47"/>
                </a:solidFill>
                <a:latin typeface="Georgia"/>
              </a:defRPr>
            </a:pPr>
            <a:r>
              <a:rPr dirty="0"/>
              <a:t>Dimensions (SCD Type 1 &amp; 2)</a:t>
            </a:r>
          </a:p>
          <a:p>
            <a:pPr>
              <a:spcAft>
                <a:spcPts val="800"/>
              </a:spcAft>
              <a:defRPr sz="1100">
                <a:solidFill>
                  <a:srgbClr val="2C3E50"/>
                </a:solidFill>
                <a:latin typeface="Arial"/>
              </a:defRPr>
            </a:pPr>
            <a:r>
              <a:rPr dirty="0" err="1"/>
              <a:t>dim_customer</a:t>
            </a:r>
            <a:r>
              <a:rPr dirty="0"/>
              <a:t> (</a:t>
            </a:r>
            <a:r>
              <a:rPr dirty="0" err="1"/>
              <a:t>customer_unique_id</a:t>
            </a:r>
            <a:r>
              <a:rPr dirty="0"/>
              <a:t> for repeat buyers), </a:t>
            </a:r>
            <a:r>
              <a:rPr dirty="0" err="1"/>
              <a:t>dim_seller</a:t>
            </a:r>
            <a:r>
              <a:rPr dirty="0"/>
              <a:t> (origin state/city), </a:t>
            </a:r>
            <a:r>
              <a:rPr dirty="0" err="1"/>
              <a:t>dim_product</a:t>
            </a:r>
            <a:r>
              <a:rPr dirty="0"/>
              <a:t> (with SCD2 snapshot), </a:t>
            </a:r>
            <a:r>
              <a:rPr dirty="0" err="1"/>
              <a:t>dim_date</a:t>
            </a:r>
            <a:r>
              <a:rPr dirty="0"/>
              <a:t> (calendar dimensions</a:t>
            </a:r>
            <a:r>
              <a:rPr dirty="0" smtClean="0"/>
              <a:t>).</a:t>
            </a:r>
            <a:endParaRPr lang="en-US" dirty="0" smtClean="0"/>
          </a:p>
          <a:p>
            <a:pPr>
              <a:spcAft>
                <a:spcPts val="800"/>
              </a:spcAft>
              <a:defRPr sz="1100">
                <a:solidFill>
                  <a:srgbClr val="2C3E50"/>
                </a:solidFill>
                <a:latin typeface="Arial"/>
              </a:defRPr>
            </a:pPr>
            <a:endParaRPr lang="en-US" dirty="0"/>
          </a:p>
          <a:p>
            <a:pPr>
              <a:spcAft>
                <a:spcPts val="800"/>
              </a:spcAft>
              <a:defRPr sz="1100">
                <a:solidFill>
                  <a:srgbClr val="2C3E50"/>
                </a:solidFill>
                <a:latin typeface="Arial"/>
              </a:defRPr>
            </a:pP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217920" y="1664898"/>
            <a:ext cx="5212080" cy="4553022"/>
          </a:xfrm>
          <a:prstGeom prst="round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spcAft>
                <a:spcPts val="1000"/>
              </a:spcAft>
              <a:defRPr sz="1200" b="1">
                <a:solidFill>
                  <a:srgbClr val="C0392B"/>
                </a:solidFill>
                <a:latin typeface="Arial"/>
              </a:defRPr>
            </a:pPr>
            <a:r>
              <a:rPr dirty="0"/>
              <a:t>FAN-OUT CONTROLS &amp; RECONCILIATION</a:t>
            </a:r>
          </a:p>
          <a:p>
            <a:pPr>
              <a:defRPr sz="1300" b="1">
                <a:solidFill>
                  <a:srgbClr val="1B2A47"/>
                </a:solidFill>
                <a:latin typeface="Georgia"/>
              </a:defRPr>
            </a:pPr>
            <a:r>
              <a:rPr dirty="0"/>
              <a:t>1. Payment Fan-Out Trap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Arial"/>
              </a:defRPr>
            </a:pPr>
            <a:r>
              <a:rPr dirty="0"/>
              <a:t>Raw payments joined to items inflates revenue 2-3x. Countermeasure: Aggregate payments to order grain in </a:t>
            </a:r>
            <a:r>
              <a:rPr dirty="0" err="1"/>
              <a:t>int_order_payments</a:t>
            </a:r>
            <a:r>
              <a:rPr dirty="0"/>
              <a:t> first.</a:t>
            </a:r>
          </a:p>
          <a:p>
            <a:pPr>
              <a:defRPr sz="1300" b="1">
                <a:solidFill>
                  <a:srgbClr val="1B2A47"/>
                </a:solidFill>
                <a:latin typeface="Georgia"/>
              </a:defRPr>
            </a:pPr>
            <a:r>
              <a:rPr dirty="0"/>
              <a:t>2. Review Fan-Out Trap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Arial"/>
              </a:defRPr>
            </a:pPr>
            <a:r>
              <a:rPr dirty="0"/>
              <a:t>Duplicate </a:t>
            </a:r>
            <a:r>
              <a:rPr dirty="0" err="1"/>
              <a:t>review_ids</a:t>
            </a:r>
            <a:r>
              <a:rPr dirty="0"/>
              <a:t> distort averages. Countermeasure: </a:t>
            </a:r>
            <a:r>
              <a:rPr dirty="0" err="1"/>
              <a:t>Deduplicate</a:t>
            </a:r>
            <a:r>
              <a:rPr dirty="0"/>
              <a:t> to exactly 1 review per order in </a:t>
            </a:r>
            <a:r>
              <a:rPr dirty="0" err="1"/>
              <a:t>int_order_reviews</a:t>
            </a:r>
            <a:r>
              <a:rPr dirty="0"/>
              <a:t>.</a:t>
            </a:r>
          </a:p>
          <a:p>
            <a:pPr>
              <a:defRPr sz="1300" b="1">
                <a:solidFill>
                  <a:srgbClr val="1B2A47"/>
                </a:solidFill>
                <a:latin typeface="Georgia"/>
              </a:defRPr>
            </a:pPr>
            <a:r>
              <a:rPr dirty="0"/>
              <a:t>3. Customer Identity Trap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Arial"/>
              </a:defRPr>
            </a:pPr>
            <a:r>
              <a:rPr dirty="0" err="1"/>
              <a:t>customer_id</a:t>
            </a:r>
            <a:r>
              <a:rPr dirty="0"/>
              <a:t> issued per order splits repeat buyers. Countermeasure: Build </a:t>
            </a:r>
            <a:r>
              <a:rPr dirty="0" err="1"/>
              <a:t>dim_customer</a:t>
            </a:r>
            <a:r>
              <a:rPr dirty="0"/>
              <a:t> on </a:t>
            </a:r>
            <a:r>
              <a:rPr dirty="0" err="1"/>
              <a:t>customer_unique_id</a:t>
            </a:r>
            <a:r>
              <a:rPr dirty="0"/>
              <a:t>.</a:t>
            </a:r>
          </a:p>
          <a:p>
            <a:pPr>
              <a:defRPr sz="1300" b="1">
                <a:solidFill>
                  <a:srgbClr val="1B2A47"/>
                </a:solidFill>
                <a:latin typeface="Georgia"/>
              </a:defRPr>
            </a:pPr>
            <a:r>
              <a:rPr dirty="0"/>
              <a:t>4. Geolocation Cardinality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Arial"/>
              </a:defRPr>
            </a:pPr>
            <a:r>
              <a:rPr dirty="0"/>
              <a:t>1M row geolocation explodes joins. Countermeasure: Collapse to 1 median coordinate row per zip prefix in </a:t>
            </a:r>
            <a:r>
              <a:rPr dirty="0" err="1"/>
              <a:t>stg_geolocation</a:t>
            </a:r>
            <a:r>
              <a:rPr dirty="0"/>
              <a:t>.</a:t>
            </a:r>
          </a:p>
          <a:p>
            <a:pPr>
              <a:defRPr sz="1300" b="1">
                <a:solidFill>
                  <a:srgbClr val="1B2A47"/>
                </a:solidFill>
                <a:latin typeface="Georgia"/>
              </a:defRPr>
            </a:pPr>
            <a:r>
              <a:rPr dirty="0"/>
              <a:t>Reconciliation Assertion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Arial"/>
              </a:defRPr>
            </a:pPr>
            <a:r>
              <a:rPr dirty="0"/>
              <a:t>sum(</a:t>
            </a:r>
            <a:r>
              <a:rPr dirty="0" err="1"/>
              <a:t>fct_order_items.item_price</a:t>
            </a:r>
            <a:r>
              <a:rPr dirty="0"/>
              <a:t>) == sum(</a:t>
            </a:r>
            <a:r>
              <a:rPr dirty="0" err="1"/>
              <a:t>stg_order_items.price</a:t>
            </a:r>
            <a:r>
              <a:rPr dirty="0"/>
              <a:t>) enforced via automated </a:t>
            </a:r>
            <a:r>
              <a:rPr dirty="0" err="1"/>
              <a:t>dbt</a:t>
            </a:r>
            <a:r>
              <a:rPr dirty="0"/>
              <a:t> test</a:t>
            </a:r>
            <a:r>
              <a:rPr dirty="0" smtClean="0"/>
              <a:t>.</a:t>
            </a:r>
            <a:endParaRPr lang="en-US" dirty="0" smtClean="0"/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Arial"/>
              </a:defRPr>
            </a:pPr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1562727" y="5477771"/>
            <a:ext cx="2233817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 err="1" smtClean="0">
                <a:ln w="12700">
                  <a:noFill/>
                  <a:prstDash val="solid"/>
                </a:ln>
                <a:solidFill>
                  <a:srgbClr val="00808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dbt</a:t>
            </a:r>
            <a:r>
              <a:rPr lang="en-US" sz="1600" dirty="0" smtClean="0">
                <a:ln w="12700">
                  <a:noFill/>
                  <a:prstDash val="solid"/>
                </a:ln>
                <a:solidFill>
                  <a:srgbClr val="00808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 docs (lineage graph)</a:t>
            </a:r>
            <a:endParaRPr lang="en-US" sz="1600" cap="none" spc="0" dirty="0">
              <a:ln w="12700">
                <a:noFill/>
                <a:prstDash val="solid"/>
              </a:ln>
              <a:solidFill>
                <a:srgbClr val="00808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9" name="Flowchart: Extract 8"/>
          <p:cNvSpPr/>
          <p:nvPr/>
        </p:nvSpPr>
        <p:spPr>
          <a:xfrm rot="5400000">
            <a:off x="1289649" y="5507965"/>
            <a:ext cx="327804" cy="301924"/>
          </a:xfrm>
          <a:prstGeom prst="flowChartExtract">
            <a:avLst/>
          </a:prstGeom>
          <a:solidFill>
            <a:srgbClr val="008080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8080"/>
                </a:solidFill>
                <a:latin typeface="Arial"/>
              </a:defRPr>
            </a:pPr>
            <a:r>
              <a:t>3:30 - 7:30 | KEY ANALYTICAL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2A47"/>
                </a:solidFill>
                <a:latin typeface="Georgia"/>
              </a:defRPr>
            </a:pPr>
            <a:r>
              <a:rPr dirty="0"/>
              <a:t>Delivery Findings: Route Bottlenecks, Handover Delays, and Cost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90828"/>
            <a:ext cx="5212080" cy="2097947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spcAft>
                <a:spcPts val="600"/>
              </a:spcAft>
              <a:defRPr sz="1100" b="1">
                <a:solidFill>
                  <a:srgbClr val="008080"/>
                </a:solidFill>
                <a:latin typeface="Arial"/>
              </a:defRPr>
            </a:pPr>
            <a:r>
              <a:rPr dirty="0"/>
              <a:t>WHERE ARE DELIVERIES LATE? (D1)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Arial"/>
              </a:defRPr>
            </a:pPr>
            <a:r>
              <a:rPr dirty="0"/>
              <a:t>• Route-Pair Bottlenecks: Customer state + seller state pairing isolates true origin vs destination delay.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Arial"/>
              </a:defRPr>
            </a:pPr>
            <a:r>
              <a:rPr dirty="0"/>
              <a:t>• Northern/Northeast routes experience highest late rates (&gt;25%) compared to Southern regional hubs.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Arial"/>
              </a:defRPr>
            </a:pPr>
            <a:r>
              <a:rPr dirty="0"/>
              <a:t>• Action: Renegotiate SLAs on top 5 worst routes; establish regional fulfillment centers.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790828"/>
            <a:ext cx="5212080" cy="2097947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spcAft>
                <a:spcPts val="600"/>
              </a:spcAft>
              <a:defRPr sz="1100" b="1">
                <a:solidFill>
                  <a:srgbClr val="1B2A47"/>
                </a:solidFill>
                <a:latin typeface="Arial"/>
              </a:defRPr>
            </a:pPr>
            <a:r>
              <a:rPr dirty="0"/>
              <a:t>WHEN ARE DELIVERIES LATE? (D2)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Arial"/>
              </a:defRPr>
            </a:pPr>
            <a:r>
              <a:rPr dirty="0"/>
              <a:t>• Milestone Stage Decomposition: Handover delay (seller -&gt; carrier) accounts for 40% of total delay time.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Arial"/>
              </a:defRPr>
            </a:pPr>
            <a:r>
              <a:rPr dirty="0"/>
              <a:t>• Peak Season Spikes: Late delivery rates double during Q4 holiday volume surges.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Arial"/>
              </a:defRPr>
            </a:pPr>
            <a:r>
              <a:rPr dirty="0"/>
              <a:t>• Action: Enforce seller handover deadlines before carrier dispatch during peak months.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3066"/>
            <a:ext cx="5212080" cy="2097947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spcAft>
                <a:spcPts val="600"/>
              </a:spcAft>
              <a:defRPr sz="1100" b="1">
                <a:solidFill>
                  <a:srgbClr val="C0392B"/>
                </a:solidFill>
                <a:latin typeface="Arial"/>
              </a:defRPr>
            </a:pPr>
            <a:r>
              <a:rPr dirty="0"/>
              <a:t>WHAT DOES LATENESS COST? (D3 &amp; D4)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Arial"/>
              </a:defRPr>
            </a:pPr>
            <a:r>
              <a:rPr dirty="0"/>
              <a:t>• Review Score Drop: Late deliveries drop average review score from </a:t>
            </a:r>
            <a:r>
              <a:rPr dirty="0" smtClean="0"/>
              <a:t>4.2</a:t>
            </a:r>
            <a:r>
              <a:rPr lang="en-US" dirty="0" smtClean="0"/>
              <a:t>9</a:t>
            </a:r>
            <a:r>
              <a:rPr dirty="0" smtClean="0"/>
              <a:t> </a:t>
            </a:r>
            <a:r>
              <a:rPr dirty="0"/>
              <a:t>to </a:t>
            </a:r>
            <a:r>
              <a:rPr lang="en-US" dirty="0" smtClean="0"/>
              <a:t>2.27</a:t>
            </a:r>
            <a:r>
              <a:rPr dirty="0" smtClean="0"/>
              <a:t> </a:t>
            </a:r>
            <a:r>
              <a:rPr dirty="0"/>
              <a:t>stars.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Arial"/>
              </a:defRPr>
            </a:pPr>
            <a:r>
              <a:rPr dirty="0"/>
              <a:t>• Exposed Revenue: Over R$ 1.2M in annual GMV exposed to severe delivery SLA breaches.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Arial"/>
              </a:defRPr>
            </a:pPr>
            <a:r>
              <a:rPr dirty="0"/>
              <a:t>• Promise </a:t>
            </a:r>
            <a:r>
              <a:rPr dirty="0" smtClean="0"/>
              <a:t>Error: </a:t>
            </a:r>
            <a:r>
              <a:rPr dirty="0"/>
              <a:t>Delivery estimates are systematically pessimistic; fixing promises is cheaper than fixing logistics.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113066"/>
            <a:ext cx="5212080" cy="2097947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spcAft>
                <a:spcPts val="600"/>
              </a:spcAft>
              <a:defRPr sz="1100" b="1">
                <a:solidFill>
                  <a:srgbClr val="1B2A47"/>
                </a:solidFill>
                <a:latin typeface="Arial"/>
              </a:defRPr>
            </a:pPr>
            <a:r>
              <a:rPr dirty="0"/>
              <a:t>SUPPORTING BRIEF ANALYSES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Arial"/>
              </a:defRPr>
            </a:pPr>
            <a:r>
              <a:rPr dirty="0"/>
              <a:t>• Monthly Sales vs Service: Revenue growth cross-read against monthly late rate to spot service degradation.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Arial"/>
              </a:defRPr>
            </a:pPr>
            <a:r>
              <a:rPr dirty="0"/>
              <a:t>• Top Products Profile: Identifies categories that sell well but ship badly (high freight/weight items).</a:t>
            </a:r>
          </a:p>
          <a:p>
            <a:pPr>
              <a:spcAft>
                <a:spcPts val="400"/>
              </a:spcAft>
              <a:defRPr sz="1050">
                <a:solidFill>
                  <a:srgbClr val="2C3E50"/>
                </a:solidFill>
                <a:latin typeface="Arial"/>
              </a:defRPr>
            </a:pPr>
            <a:r>
              <a:rPr dirty="0"/>
              <a:t>• Customer RFM &amp; Delivery: Quantifies high-value customer revenue exposed to poor delivery experience.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342458" y="1224958"/>
            <a:ext cx="1087542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 smtClean="0">
                <a:ln w="12700">
                  <a:noFill/>
                  <a:prstDash val="solid"/>
                </a:ln>
                <a:solidFill>
                  <a:srgbClr val="00808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Dashboard</a:t>
            </a:r>
            <a:endParaRPr lang="en-US" sz="1600" cap="none" spc="0" dirty="0">
              <a:ln w="12700">
                <a:noFill/>
                <a:prstDash val="solid"/>
              </a:ln>
              <a:solidFill>
                <a:srgbClr val="00808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9" name="Flowchart: Extract 8"/>
          <p:cNvSpPr/>
          <p:nvPr/>
        </p:nvSpPr>
        <p:spPr>
          <a:xfrm rot="5400000">
            <a:off x="10048311" y="1255152"/>
            <a:ext cx="327804" cy="301924"/>
          </a:xfrm>
          <a:prstGeom prst="flowChartExtract">
            <a:avLst/>
          </a:prstGeom>
          <a:solidFill>
            <a:srgbClr val="008080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8080"/>
                </a:solidFill>
                <a:latin typeface="Arial"/>
              </a:defRPr>
            </a:pPr>
            <a:r>
              <a:t>7:30 - 8:40 | QUALITY &amp;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2A47"/>
                </a:solidFill>
                <a:latin typeface="Georgia"/>
              </a:defRPr>
            </a:pPr>
            <a:r>
              <a:rPr dirty="0"/>
              <a:t>Two-Tiered Quality Gates and Demonstrated Fault-Injection Prevention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59788"/>
            <a:ext cx="5212080" cy="4458131"/>
          </a:xfrm>
          <a:prstGeom prst="roundRect">
            <a:avLst/>
          </a:prstGeom>
          <a:solidFill>
            <a:srgbClr val="EDF2F7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spcAft>
                <a:spcPts val="1000"/>
              </a:spcAft>
              <a:defRPr sz="1200" b="1">
                <a:solidFill>
                  <a:srgbClr val="C0392B"/>
                </a:solidFill>
                <a:latin typeface="Arial"/>
              </a:defRPr>
            </a:pPr>
            <a:r>
              <a:rPr dirty="0"/>
              <a:t>DEMONSTRATED FAULT-INJECTION DEMO</a:t>
            </a:r>
          </a:p>
          <a:p>
            <a:pPr>
              <a:defRPr sz="1300" b="1">
                <a:solidFill>
                  <a:srgbClr val="1B2A47"/>
                </a:solidFill>
                <a:latin typeface="Georgia"/>
              </a:defRPr>
            </a:pPr>
            <a:r>
              <a:rPr dirty="0"/>
              <a:t>1. Baseline Passing State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Arial"/>
              </a:defRPr>
            </a:pPr>
            <a:r>
              <a:rPr dirty="0" err="1"/>
              <a:t>dbt</a:t>
            </a:r>
            <a:r>
              <a:rPr dirty="0"/>
              <a:t> build passes 161 automated tests across staging, intermediate, and marts.</a:t>
            </a:r>
          </a:p>
          <a:p>
            <a:pPr>
              <a:defRPr sz="1300" b="1">
                <a:solidFill>
                  <a:srgbClr val="1B2A47"/>
                </a:solidFill>
                <a:latin typeface="Georgia"/>
              </a:defRPr>
            </a:pPr>
            <a:r>
              <a:rPr dirty="0"/>
              <a:t>2. Controlled Fault Injection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Arial"/>
              </a:defRPr>
            </a:pPr>
            <a:r>
              <a:rPr dirty="0"/>
              <a:t>Injected 2 faults on a dev branch: duplicated </a:t>
            </a:r>
            <a:r>
              <a:rPr dirty="0" err="1"/>
              <a:t>order_item_key</a:t>
            </a:r>
            <a:r>
              <a:rPr dirty="0"/>
              <a:t> and negative item price.</a:t>
            </a:r>
          </a:p>
          <a:p>
            <a:pPr>
              <a:defRPr sz="1300" b="1">
                <a:solidFill>
                  <a:srgbClr val="1B2A47"/>
                </a:solidFill>
                <a:latin typeface="Georgia"/>
              </a:defRPr>
            </a:pPr>
            <a:r>
              <a:rPr dirty="0"/>
              <a:t>3. Gate Holds (FAIL-STOP)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Arial"/>
              </a:defRPr>
            </a:pPr>
            <a:r>
              <a:rPr dirty="0" err="1"/>
              <a:t>dbt</a:t>
            </a:r>
            <a:r>
              <a:rPr dirty="0"/>
              <a:t> build immediately halted on test failure; zero bad rows published to marts.</a:t>
            </a:r>
          </a:p>
          <a:p>
            <a:pPr>
              <a:defRPr sz="1300" b="1">
                <a:solidFill>
                  <a:srgbClr val="1B2A47"/>
                </a:solidFill>
                <a:latin typeface="Georgia"/>
              </a:defRPr>
            </a:pPr>
            <a:r>
              <a:rPr dirty="0"/>
              <a:t>4. Error Captured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Arial"/>
              </a:defRPr>
            </a:pPr>
            <a:r>
              <a:rPr dirty="0"/>
              <a:t>Offending rows captured in </a:t>
            </a:r>
            <a:r>
              <a:rPr dirty="0" err="1"/>
              <a:t>dbt</a:t>
            </a:r>
            <a:r>
              <a:rPr dirty="0"/>
              <a:t> target logs; downstream marts remained protected.</a:t>
            </a:r>
          </a:p>
          <a:p>
            <a:pPr>
              <a:defRPr sz="1300" b="1">
                <a:solidFill>
                  <a:srgbClr val="1B2A47"/>
                </a:solidFill>
                <a:latin typeface="Georgia"/>
              </a:defRPr>
            </a:pPr>
            <a:r>
              <a:rPr dirty="0"/>
              <a:t>5. Repair &amp; Verification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Arial"/>
              </a:defRPr>
            </a:pPr>
            <a:r>
              <a:rPr dirty="0"/>
              <a:t>Fixed staging casting &amp; dedupe; </a:t>
            </a:r>
            <a:r>
              <a:rPr dirty="0" err="1"/>
              <a:t>dbt</a:t>
            </a:r>
            <a:r>
              <a:rPr dirty="0"/>
              <a:t> build returned to green state</a:t>
            </a:r>
            <a:r>
              <a:rPr dirty="0" smtClean="0"/>
              <a:t>.</a:t>
            </a:r>
            <a:r>
              <a:rPr lang="en-US" dirty="0" smtClean="0"/>
              <a:t> 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217920" y="1759788"/>
            <a:ext cx="5212080" cy="4458131"/>
          </a:xfrm>
          <a:prstGeom prst="roundRect">
            <a:avLst/>
          </a:prstGeom>
          <a:solidFill>
            <a:srgbClr val="FFFFFF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spcAft>
                <a:spcPts val="1000"/>
              </a:spcAft>
              <a:defRPr sz="1200" b="1">
                <a:solidFill>
                  <a:srgbClr val="008080"/>
                </a:solidFill>
                <a:latin typeface="Arial"/>
              </a:defRPr>
            </a:pPr>
            <a:r>
              <a:rPr dirty="0"/>
              <a:t>RISKS, CAVEATS &amp; DATA LIMITATIONS</a:t>
            </a:r>
          </a:p>
          <a:p>
            <a:pPr>
              <a:defRPr sz="1300" b="1">
                <a:solidFill>
                  <a:srgbClr val="1B2A47"/>
                </a:solidFill>
                <a:latin typeface="Georgia"/>
              </a:defRPr>
            </a:pPr>
            <a:r>
              <a:rPr dirty="0"/>
              <a:t>Correlational vs Causal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Arial"/>
              </a:defRPr>
            </a:pPr>
            <a:r>
              <a:rPr dirty="0"/>
              <a:t>Findings show strong association between lateness and review score, but not proven causality. Proposed: A/B quasi-experiment.</a:t>
            </a:r>
          </a:p>
          <a:p>
            <a:pPr>
              <a:defRPr sz="1300" b="1">
                <a:solidFill>
                  <a:srgbClr val="1B2A47"/>
                </a:solidFill>
                <a:latin typeface="Georgia"/>
              </a:defRPr>
            </a:pPr>
            <a:r>
              <a:rPr dirty="0"/>
              <a:t>Dataset Boundary Sparsity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Arial"/>
              </a:defRPr>
            </a:pPr>
            <a:r>
              <a:rPr dirty="0"/>
              <a:t>Sparse coverage at Sep-Oct 2016 and Sep-Oct 2018. Marked visually in trend charts to prevent misreading as business collapse.</a:t>
            </a:r>
          </a:p>
          <a:p>
            <a:pPr>
              <a:defRPr sz="1300" b="1">
                <a:solidFill>
                  <a:srgbClr val="1B2A47"/>
                </a:solidFill>
                <a:latin typeface="Georgia"/>
              </a:defRPr>
            </a:pPr>
            <a:r>
              <a:rPr dirty="0"/>
              <a:t>Static Export Limitation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Arial"/>
              </a:defRPr>
            </a:pPr>
            <a:r>
              <a:rPr dirty="0" err="1"/>
              <a:t>Olist</a:t>
            </a:r>
            <a:r>
              <a:rPr dirty="0"/>
              <a:t> dataset is a static historical export. Freshness alerting recorded as stated limitation rather than live trigger.</a:t>
            </a:r>
          </a:p>
          <a:p>
            <a:pPr>
              <a:defRPr sz="1300" b="1">
                <a:solidFill>
                  <a:srgbClr val="1B2A47"/>
                </a:solidFill>
                <a:latin typeface="Georgia"/>
              </a:defRPr>
            </a:pPr>
            <a:r>
              <a:rPr dirty="0" err="1"/>
              <a:t>BigQuery</a:t>
            </a:r>
            <a:r>
              <a:rPr dirty="0"/>
              <a:t> Cost Governance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Arial"/>
              </a:defRPr>
            </a:pPr>
            <a:r>
              <a:rPr dirty="0"/>
              <a:t>Banned 'SELECT *'. Partitioning on purchase date and clustering on customer/seller keys controls scan costs effectively (always-free tier safe</a:t>
            </a:r>
            <a:r>
              <a:rPr dirty="0" smtClean="0"/>
              <a:t>).</a:t>
            </a:r>
            <a:endParaRPr lang="en-US" dirty="0" smtClean="0"/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Arial"/>
              </a:defRPr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8080"/>
                </a:solidFill>
                <a:latin typeface="Arial"/>
              </a:defRPr>
            </a:pPr>
            <a:r>
              <a:t>8:40 - 10:00 | RECOMMENDATIONS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2A47"/>
                </a:solidFill>
                <a:latin typeface="Georgia"/>
              </a:defRPr>
            </a:pPr>
            <a:r>
              <a:t>Strategic Action Plan, Role Ownership, and Future Scale Triggers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76714"/>
            <a:ext cx="5212080" cy="3985399"/>
          </a:xfrm>
          <a:prstGeom prst="roundRect">
            <a:avLst/>
          </a:prstGeom>
          <a:solidFill>
            <a:srgbClr val="FFFFFF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spcAft>
                <a:spcPts val="1000"/>
              </a:spcAft>
              <a:defRPr sz="1200" b="1">
                <a:solidFill>
                  <a:srgbClr val="008080"/>
                </a:solidFill>
                <a:latin typeface="Arial"/>
              </a:defRPr>
            </a:pPr>
            <a:r>
              <a:rPr dirty="0"/>
              <a:t>STRATEGIC RECOMMENDATIONS &amp; OWNERS</a:t>
            </a:r>
          </a:p>
          <a:p>
            <a:pPr>
              <a:defRPr sz="1300" b="1">
                <a:solidFill>
                  <a:srgbClr val="1B2A47"/>
                </a:solidFill>
                <a:latin typeface="Georgia"/>
              </a:defRPr>
            </a:pPr>
            <a:r>
              <a:rPr dirty="0"/>
              <a:t>1. Fix Delivery Promises (COO/Analytics)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Arial"/>
              </a:defRPr>
            </a:pPr>
            <a:r>
              <a:rPr dirty="0"/>
              <a:t>Correct delivery estimation algorithm. Fixing the estimate is cheaper than fixing logistics and eliminates artificial lateness.</a:t>
            </a:r>
          </a:p>
          <a:p>
            <a:pPr>
              <a:defRPr sz="1300" b="1">
                <a:solidFill>
                  <a:srgbClr val="1B2A47"/>
                </a:solidFill>
                <a:latin typeface="Georgia"/>
              </a:defRPr>
            </a:pPr>
            <a:r>
              <a:rPr dirty="0"/>
              <a:t>2. Carrier SLA Renegotiation (Logistics)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Arial"/>
              </a:defRPr>
            </a:pPr>
            <a:r>
              <a:rPr dirty="0"/>
              <a:t>Renegotiate carrier contracts on top 5 worst regional state routes (North/Northeast).</a:t>
            </a:r>
          </a:p>
          <a:p>
            <a:pPr>
              <a:defRPr sz="1300" b="1">
                <a:solidFill>
                  <a:srgbClr val="1B2A47"/>
                </a:solidFill>
                <a:latin typeface="Georgia"/>
              </a:defRPr>
            </a:pPr>
            <a:r>
              <a:rPr dirty="0"/>
              <a:t>3. Seller Handover Enforcer (Operations)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Arial"/>
              </a:defRPr>
            </a:pPr>
            <a:r>
              <a:rPr dirty="0"/>
              <a:t>Impose seller probation for handover delays &gt;48 </a:t>
            </a:r>
            <a:r>
              <a:rPr dirty="0" err="1"/>
              <a:t>hrs</a:t>
            </a:r>
            <a:r>
              <a:rPr dirty="0"/>
              <a:t> to eliminate pre-carrier latency.</a:t>
            </a:r>
          </a:p>
          <a:p>
            <a:pPr>
              <a:defRPr sz="1300" b="1">
                <a:solidFill>
                  <a:srgbClr val="1B2A47"/>
                </a:solidFill>
                <a:latin typeface="Georgia"/>
              </a:defRPr>
            </a:pPr>
            <a:r>
              <a:rPr dirty="0"/>
              <a:t>4. High-Value Customer Protection (Marketing)</a:t>
            </a:r>
          </a:p>
          <a:p>
            <a:pPr>
              <a:spcAft>
                <a:spcPts val="600"/>
              </a:spcAft>
              <a:defRPr sz="1100">
                <a:solidFill>
                  <a:srgbClr val="2C3E50"/>
                </a:solidFill>
                <a:latin typeface="Arial"/>
              </a:defRPr>
            </a:pPr>
            <a:r>
              <a:rPr dirty="0"/>
              <a:t>Cross-tabulate RFM segments with delivery experience to trigger proactive apology vouchers for VIP buyers experiencing delays.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76714"/>
            <a:ext cx="5212080" cy="3985399"/>
          </a:xfrm>
          <a:prstGeom prst="roundRect">
            <a:avLst/>
          </a:prstGeom>
          <a:solidFill>
            <a:srgbClr val="1B2A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spcAft>
                <a:spcPts val="1000"/>
              </a:spcAft>
              <a:defRPr sz="1200" b="1">
                <a:solidFill>
                  <a:srgbClr val="008080"/>
                </a:solidFill>
                <a:latin typeface="Arial"/>
              </a:defRPr>
            </a:pPr>
            <a:r>
              <a:t>FUTURE EXPANSION TRIGGERS (OUT OF SCOPE NOW)</a:t>
            </a:r>
          </a:p>
          <a:p>
            <a:pPr>
              <a:defRPr sz="1300" b="1">
                <a:solidFill>
                  <a:srgbClr val="FFFFFF"/>
                </a:solidFill>
                <a:latin typeface="Georgia"/>
              </a:defRPr>
            </a:pPr>
            <a:r>
              <a:t>Apache Spark Trigger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Currently 120MB fits in memory. Adopt Spark when working set exceeds single-node memory or BigQuery scan misses SLA.</a:t>
            </a:r>
          </a:p>
          <a:p>
            <a:pPr>
              <a:defRPr sz="1300" b="1">
                <a:solidFill>
                  <a:srgbClr val="FFFFFF"/>
                </a:solidFill>
                <a:latin typeface="Georgia"/>
              </a:defRPr>
            </a:pPr>
            <a:r>
              <a:t>Kafka / Streaming Trigger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Currently static historical export. Adopt Kafka when live order feed requires sub-minute decisioning (fraud/dispatch).</a:t>
            </a:r>
          </a:p>
          <a:p>
            <a:pPr>
              <a:defRPr sz="1300" b="1">
                <a:solidFill>
                  <a:srgbClr val="FFFFFF"/>
                </a:solidFill>
                <a:latin typeface="Georgia"/>
              </a:defRPr>
            </a:pPr>
            <a:r>
              <a:t>Meltano Adoption Trigger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Currently static CSV loader. Adopt Meltano when continuously growing API/DB replicas are added as second sources.</a:t>
            </a:r>
          </a:p>
          <a:p>
            <a:pPr>
              <a:defRPr sz="1300" b="1">
                <a:solidFill>
                  <a:srgbClr val="FFFFFF"/>
                </a:solidFill>
                <a:latin typeface="Georgia"/>
              </a:defRPr>
            </a:pPr>
            <a:r>
              <a:t>BrasilAPI Enrichment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  <a:latin typeface="Arial"/>
              </a:defRPr>
            </a:pPr>
            <a:r>
              <a:t>Enrich dim_date with Brazilian public holidays to improve seasonality model once core pipeline is fully green.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1455</Words>
  <Application>Microsoft Office PowerPoint</Application>
  <PresentationFormat>Custom</PresentationFormat>
  <Paragraphs>137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Arief Lesmana Constantine</cp:lastModifiedBy>
  <cp:revision>8</cp:revision>
  <dcterms:created xsi:type="dcterms:W3CDTF">2013-01-27T09:14:16Z</dcterms:created>
  <dcterms:modified xsi:type="dcterms:W3CDTF">2026-09-19T07:55:46Z</dcterms:modified>
  <cp:category/>
</cp:coreProperties>
</file>